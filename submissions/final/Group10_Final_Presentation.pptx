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One line: we built an NLP component that understands and routes administrative requests, and an elective advisor on top of it, both reusable through an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Institutional problem from the handout: students and faculty ask administrative questions in natural language while processes are spread across documents and offices.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Users: students, administrative staff and course coordinators, and other AI University components through the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provenance: facts and passages are official; questions were built from the facts; rewordings are rule-generated; off-topic queries are real (CLINC150).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each technique fits: classification for routing, NER for request details, hybrid retrieval for grounded answers, extractive answers to avoid hallucination.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input, preprocessing, models, post-processing (confidence, decisions, citations), the /v1 API and Python module, and the applications that use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Routing beats the TF-IDF baseline significantly (McNemar p = 0.00047). Gain over Week 3 is small and not significant (p = 0.6875) - say so. Retrieval Recall@3 0.385 -&gt; 0.787.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demo at http://127.0.0.1:8000/ui/ (not screenshots). Show one failure and explain why (handout Part 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/docs in the browser and one curl call. Another group needs only the endpoint and the JSON schema, not our source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handout's message: a smaller, well-evaluated, reusable NLP asset.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56032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Group 10 · University Administrative Copilot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University Administrative Copilot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5603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reusable NLP asset for the AI University platform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Group 10 · J054, J055, J056, J057, J059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NLP Course Project 2026 · SVKM's NMIMS, MPSTME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3" name="card0"/>
          <p:cNvSpPr/>
          <p:nvPr/>
        </p:nvSpPr>
        <p:spPr>
          <a:xfrm>
            <a:off x="457200" y="12344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are scattered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2860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 live in the Student Resource Book, circulars, forms and web pages. Students do not know where to look.</a:t>
            </a:r>
            <a:endParaRPr lang="en-US" sz="1400" dirty="0"/>
          </a:p>
        </p:txBody>
      </p:sp>
      <p:sp>
        <p:nvSpPr>
          <p:cNvPr id="8" name="card1"/>
          <p:cNvSpPr/>
          <p:nvPr/>
        </p:nvSpPr>
        <p:spPr>
          <a:xfrm>
            <a:off x="3246120" y="12344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reach the wrong office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97480"/>
            <a:ext cx="22860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questions hit the help desk again and again, and staff route them by hand.</a:t>
            </a:r>
            <a:endParaRPr lang="en-US" sz="1400" dirty="0"/>
          </a:p>
        </p:txBody>
      </p:sp>
      <p:sp>
        <p:nvSpPr>
          <p:cNvPr id="13" name="card2"/>
          <p:cNvSpPr/>
          <p:nvPr/>
        </p:nvSpPr>
        <p:spPr>
          <a:xfrm>
            <a:off x="6035040" y="12344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Electives are a rules puzzle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97480"/>
            <a:ext cx="22860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Eligibility depends on programme, semester, slots and prerequisites, and new courses are in no catalogue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uses it, and what they get</a:t>
            </a:r>
            <a:endParaRPr lang="en-US" sz="3000" dirty="0"/>
          </a:p>
        </p:txBody>
      </p:sp>
      <p:sp>
        <p:nvSpPr>
          <p:cNvPr id="3" name="example"/>
          <p:cNvSpPr/>
          <p:nvPr/>
        </p:nvSpPr>
        <p:spPr>
          <a:xfrm>
            <a:off x="457200" y="1188720"/>
            <a:ext cx="411480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Student asks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657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“I lost my ID card, my roll no is J054. It's urgent”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Copilot returns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374904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Intent: ID cards → duplicate ID card (0.90)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Office: School Academic Office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Entities: roll no J054, priority high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Answer and next step, with official sources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536192"/>
            <a:ext cx="3291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in their own words; get the office, documents, next step and elective advice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3774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Staff and coordinators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633472"/>
            <a:ext cx="3291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receive pre-routed requests; uncertain ones are referred to them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3474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410712"/>
            <a:ext cx="3291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Other groups' apps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3730752"/>
            <a:ext cx="3291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call the same API (Group 4, 6, 9, 12)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Data: built from official NMIMS sources</a:t>
            </a:r>
            <a:endParaRPr lang="en-US" sz="3000" dirty="0"/>
          </a:p>
        </p:txBody>
      </p:sp>
      <p:sp>
        <p:nvSpPr>
          <p:cNvPr id="3" name="stat0"/>
          <p:cNvSpPr/>
          <p:nvPr/>
        </p:nvSpPr>
        <p:spPr>
          <a:xfrm>
            <a:off x="457200" y="118872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official sources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web pages, Student Resource Book, circulars, 28 PDFs (OCR where scanned)</a:t>
            </a:r>
            <a:endParaRPr lang="en-US" sz="1200" dirty="0"/>
          </a:p>
        </p:txBody>
      </p:sp>
      <p:sp>
        <p:nvSpPr>
          <p:cNvPr id="7" name="stat1"/>
          <p:cNvSpPr/>
          <p:nvPr/>
        </p:nvSpPr>
        <p:spPr>
          <a:xfrm>
            <a:off x="2560320" y="118872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269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verified facts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with page and exact quote, auto-checked</a:t>
            </a:r>
            <a:endParaRPr lang="en-US" sz="1200" dirty="0"/>
          </a:p>
        </p:txBody>
      </p:sp>
      <p:sp>
        <p:nvSpPr>
          <p:cNvPr id="11" name="stat2"/>
          <p:cNvSpPr/>
          <p:nvPr/>
        </p:nvSpPr>
        <p:spPr>
          <a:xfrm>
            <a:off x="4663440" y="118872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5,863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labelled queries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1,973 from the facts + 3,890 rule-based rewordings</a:t>
            </a:r>
            <a:endParaRPr lang="en-US" sz="1200" dirty="0"/>
          </a:p>
        </p:txBody>
      </p:sp>
      <p:sp>
        <p:nvSpPr>
          <p:cNvPr id="15" name="stat3"/>
          <p:cNvSpPr/>
          <p:nvPr/>
        </p:nvSpPr>
        <p:spPr>
          <a:xfrm>
            <a:off x="6766560" y="1188720"/>
            <a:ext cx="1920240" cy="2514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727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cited passages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514600"/>
            <a:ext cx="16459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knowledge base the copilot searches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12 intents · 95 services · out-of-scope from CLINC150 (real public queries) · group-aware split: train 3,953 / validation 965 / test 945 · questions are built from official facts, not collected from students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NLP approach: baseline → improved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Improved (final)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Intent + routing (95 services)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TF-IDF + logistic regression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Fine-tuned BGE-small transformer, blended with an embedding ensemble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Entity extraction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Dictionary + regex rules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Transformer NER + rules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Retrieval (RAG)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BM25 keyword search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BM25 + fine-tuned vectors, fused, intent-boosted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Answer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Lead sentences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Query-focused extractive summary (MMR) with citations; LLM compared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Elective advice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Syllabus + identity parsing, 7 rule checks with sources, ranking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</a:t>
            </a:r>
            <a:endParaRPr lang="en-US" sz="3000" dirty="0"/>
          </a:p>
        </p:txBody>
      </p:sp>
      <p:pic>
        <p:nvPicPr>
          <p:cNvPr id="3" name="Image 0" descr="Architecture diagram: input, preprocessing, NLP models, post-processing, API, appl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3602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baseline vs final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61288"/>
            <a:ext cx="1645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Baseline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37360" y="1161288"/>
            <a:ext cx="1645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Final</a:t>
            </a:r>
            <a:endParaRPr lang="en-US" sz="1200" dirty="0"/>
          </a:p>
        </p:txBody>
      </p:sp>
      <p:sp>
        <p:nvSpPr>
          <p:cNvPr id="7" name="Routing accuracy baseline"/>
          <p:cNvSpPr/>
          <p:nvPr/>
        </p:nvSpPr>
        <p:spPr>
          <a:xfrm>
            <a:off x="548640" y="2239055"/>
            <a:ext cx="548640" cy="1921465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46447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0.72</a:t>
            </a:r>
            <a:endParaRPr lang="en-US" sz="1200" dirty="0"/>
          </a:p>
        </p:txBody>
      </p:sp>
      <p:sp>
        <p:nvSpPr>
          <p:cNvPr id="9" name="Routing accuracy final"/>
          <p:cNvSpPr/>
          <p:nvPr/>
        </p:nvSpPr>
        <p:spPr>
          <a:xfrm>
            <a:off x="1170432" y="2047863"/>
            <a:ext cx="548640" cy="211265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1755255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0.80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4206240"/>
            <a:ext cx="15179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Routing accuracy</a:t>
            </a:r>
            <a:endParaRPr lang="en-US" sz="1200" dirty="0"/>
          </a:p>
        </p:txBody>
      </p:sp>
      <p:sp>
        <p:nvSpPr>
          <p:cNvPr id="12" name="Retrieval Recall@3 baseline"/>
          <p:cNvSpPr/>
          <p:nvPr/>
        </p:nvSpPr>
        <p:spPr>
          <a:xfrm>
            <a:off x="2148840" y="3139327"/>
            <a:ext cx="548640" cy="102119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2846719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0.39</a:t>
            </a:r>
            <a:endParaRPr lang="en-US" sz="1200" dirty="0"/>
          </a:p>
        </p:txBody>
      </p:sp>
      <p:sp>
        <p:nvSpPr>
          <p:cNvPr id="14" name="Retrieval Recall@3 final"/>
          <p:cNvSpPr/>
          <p:nvPr/>
        </p:nvSpPr>
        <p:spPr>
          <a:xfrm>
            <a:off x="2770632" y="2072524"/>
            <a:ext cx="548640" cy="20879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79192" y="1779916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0.79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4206240"/>
            <a:ext cx="15179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Retrieval Recall@3</a:t>
            </a:r>
            <a:endParaRPr lang="en-US" sz="1200" dirty="0"/>
          </a:p>
        </p:txBody>
      </p:sp>
      <p:sp>
        <p:nvSpPr>
          <p:cNvPr id="17" name="Answer similarity baseline"/>
          <p:cNvSpPr/>
          <p:nvPr/>
        </p:nvSpPr>
        <p:spPr>
          <a:xfrm>
            <a:off x="3749040" y="3058449"/>
            <a:ext cx="548640" cy="1102071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0" y="2765841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0.42</a:t>
            </a:r>
            <a:endParaRPr lang="en-US" sz="1200" dirty="0"/>
          </a:p>
        </p:txBody>
      </p:sp>
      <p:sp>
        <p:nvSpPr>
          <p:cNvPr id="19" name="Answer similarity final"/>
          <p:cNvSpPr/>
          <p:nvPr/>
        </p:nvSpPr>
        <p:spPr>
          <a:xfrm>
            <a:off x="4370832" y="2247806"/>
            <a:ext cx="548640" cy="191271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9392" y="1955198"/>
            <a:ext cx="731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0.72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4206240"/>
            <a:ext cx="151790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Answer similarity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4754880" cy="0"/>
          </a:xfrm>
          <a:prstGeom prst="line">
            <a:avLst/>
          </a:prstGeom>
          <a:noFill/>
          <a:ln w="12700">
            <a:solidFill>
              <a:srgbClr val="9AA5B1"/>
            </a:solidFill>
            <a:prstDash val="solid"/>
          </a:ln>
        </p:spPr>
      </p:sp>
      <p:sp>
        <p:nvSpPr>
          <p:cNvPr id="23" name="callout0"/>
          <p:cNvSpPr/>
          <p:nvPr/>
        </p:nvSpPr>
        <p:spPr>
          <a:xfrm>
            <a:off x="5577840" y="109728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15000" y="114300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90.7%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routing accuracy on the 63.6% of questions answered automatically</a:t>
            </a:r>
            <a:endParaRPr lang="en-US" sz="1200" dirty="0"/>
          </a:p>
        </p:txBody>
      </p:sp>
      <p:sp>
        <p:nvSpPr>
          <p:cNvPr id="26" name="callout1"/>
          <p:cNvSpPr/>
          <p:nvPr/>
        </p:nvSpPr>
        <p:spPr>
          <a:xfrm>
            <a:off x="5577840" y="228600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1500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5715000" y="2761488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held-out elective decisions correct; 12/12 recommendations</a:t>
            </a:r>
            <a:endParaRPr lang="en-US" sz="1200" dirty="0"/>
          </a:p>
        </p:txBody>
      </p:sp>
      <p:sp>
        <p:nvSpPr>
          <p:cNvPr id="29" name="callout2"/>
          <p:cNvSpPr/>
          <p:nvPr/>
        </p:nvSpPr>
        <p:spPr>
          <a:xfrm>
            <a:off x="5577840" y="3474720"/>
            <a:ext cx="3108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1500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230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5715000" y="3950208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counterfactual tests changed the advice (fairness)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Demonstration</a:t>
            </a:r>
            <a:endParaRPr lang="en-US" sz="3000" dirty="0"/>
          </a:p>
        </p:txBody>
      </p:sp>
      <p:pic>
        <p:nvPicPr>
          <p:cNvPr id="3" name="Image 0" descr="Elective advisor in the web inter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761488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474720" y="1097280"/>
            <a:ext cx="52120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Elective advisor: third-year CS student + 5 AI syllabi (incl. a new course) → recommends Generative AI &amp; LLM Applications, every other course excluded with a sourced reason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Ask the copilot: an ID-card question → office, documents, entities, cited answer, decision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Partner integration: syllabi and student record fetched from partner services through the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Failure case: “I am not asking about revaluation, I want a photocopy” → routed to revaluation (keywords beat negation)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reusable asset, not just an app</a:t>
            </a:r>
            <a:endParaRPr lang="en-US" sz="3000" dirty="0"/>
          </a:p>
        </p:txBody>
      </p:sp>
      <p:sp>
        <p:nvSpPr>
          <p:cNvPr id="3" name="code"/>
          <p:cNvSpPr/>
          <p:nvPr/>
        </p:nvSpPr>
        <p:spPr>
          <a:xfrm>
            <a:off x="457200" y="1143000"/>
            <a:ext cx="4572000" cy="2697480"/>
          </a:xfrm>
          <a:prstGeom prst="roundRect">
            <a:avLst>
              <a:gd name="adj" fmla="val 271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2062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/v1/analyze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{"text": "I lost my ID card"}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{"intent": "ID_CARDS", "confidence": 0.90,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"routing": {"department": ...},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"entities": [...], "sources": [...],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"decision": "auto_route",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"schema_version": "1.0"}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77640"/>
            <a:ext cx="45720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Interactive docs at /docs (OpenAPI) · JSON schemas in docs/schemas · same contract for the web UI and other groups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49240" y="1188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12471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Typed HTTP API + Python module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444752"/>
            <a:ext cx="2926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/v1/analyze, /intent, /entities, /retrieve, /electives/advise; OpenAPI docs and JSON schemas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49240" y="2331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26771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Confidence and decisions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587752"/>
            <a:ext cx="2926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every output has a score; 365/365 outputs schema-valid; ~113 ms per 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3474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410712"/>
            <a:ext cx="2926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730752"/>
            <a:ext cx="29260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Group 9 syllabi in → our advice; Group 4 / 6 call us; Group 12 can screen input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future work</a:t>
            </a:r>
            <a:endParaRPr lang="en-US" sz="3000" dirty="0"/>
          </a:p>
        </p:txBody>
      </p:sp>
      <p:sp>
        <p:nvSpPr>
          <p:cNvPr id="3" name="limits"/>
          <p:cNvSpPr/>
          <p:nvPr/>
        </p:nvSpPr>
        <p:spPr>
          <a:xfrm>
            <a:off x="45720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uture"/>
          <p:cNvSpPr/>
          <p:nvPr/>
        </p:nvSpPr>
        <p:spPr>
          <a:xfrm>
            <a:off x="4709160" y="1143000"/>
            <a:ext cx="39776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it does not do well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Questions built from official facts, not real student traffic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Accepts some off-topic academic questions (IIT cut-offs)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Negation, follow-ups, heavy typos and Hinglish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 NMIMS syllabus formats only partly parsed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Towards production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Consented, anonymised student queries; re-evaluate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Near-domain off-topic data; slang and Hinglish normaliser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Multi-turn clarification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 behind the gateway, monitoring, yearly rule re-ingestion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links to Groups 9, 4 and 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up 10 Copilot">
  <a:themeElements>
    <a:clrScheme name="Group 10 Copilot">
      <a:dk1>
        <a:srgbClr val="1F2A44"/>
      </a:dk1>
      <a:lt1>
        <a:srgbClr val="FFFFFF"/>
      </a:lt1>
      <a:dk2>
        <a:srgbClr val="7A1F2B"/>
      </a:dk2>
      <a:lt2>
        <a:srgbClr val="F2F3F5"/>
      </a:lt2>
      <a:accent1>
        <a:srgbClr val="7A1F2B"/>
      </a:accent1>
      <a:accent2>
        <a:srgbClr val="2E7D6B"/>
      </a:accent2>
      <a:accent3>
        <a:srgbClr val="9AA5B1"/>
      </a:accent3>
      <a:accent4>
        <a:srgbClr val="C9A227"/>
      </a:accent4>
      <a:accent5>
        <a:srgbClr val="3E5C8A"/>
      </a:accent5>
      <a:accent6>
        <a:srgbClr val="B4535E"/>
      </a:accent6>
      <a:hlink>
        <a:srgbClr val="3E5C8A"/>
      </a:hlink>
      <a:folHlink>
        <a:srgbClr val="7A1F2B"/>
      </a:folHlink>
    </a:clrScheme>
    <a:fontScheme name="Group 10 Copil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Administrative Copilot - final presentation</dc:title>
  <dc:subject>PptxGenJS Presentation</dc:subject>
  <dc:creator>Group 10</dc:creator>
  <cp:lastModifiedBy>Group 10</cp:lastModifiedBy>
  <cp:revision>1</cp:revision>
  <dcterms:created xsi:type="dcterms:W3CDTF">2026-10-31T14:13:14Z</dcterms:created>
  <dcterms:modified xsi:type="dcterms:W3CDTF">2026-10-31T14:13:14Z</dcterms:modified>
</cp:coreProperties>
</file>